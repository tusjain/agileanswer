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8" r:id="rId1"/>
  </p:sldMasterIdLst>
  <p:notesMasterIdLst>
    <p:notesMasterId r:id="rId3"/>
  </p:notesMasterIdLst>
  <p:sldIdLst>
    <p:sldId id="284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Fischer" initials="JF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13" autoAdjust="0"/>
  </p:normalViewPr>
  <p:slideViewPr>
    <p:cSldViewPr snapToGrid="0">
      <p:cViewPr varScale="1">
        <p:scale>
          <a:sx n="110" d="100"/>
          <a:sy n="110" d="100"/>
        </p:scale>
        <p:origin x="-768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228600" algn="l" rtl="0">
              <a:spcBef>
                <a:spcPts val="0"/>
              </a:spcBef>
              <a:buChar char="○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457200" algn="l" rtl="0">
              <a:spcBef>
                <a:spcPts val="0"/>
              </a:spcBef>
              <a:buChar char="■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685800" algn="l" rtl="0">
              <a:spcBef>
                <a:spcPts val="0"/>
              </a:spcBef>
              <a:buChar char="●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914400" algn="l" rtl="0">
              <a:spcBef>
                <a:spcPts val="0"/>
              </a:spcBef>
              <a:buChar char="○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1143000" algn="l" rtl="0">
              <a:spcBef>
                <a:spcPts val="0"/>
              </a:spcBef>
              <a:buChar char="■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1371600" algn="l" rtl="0">
              <a:spcBef>
                <a:spcPts val="0"/>
              </a:spcBef>
              <a:buChar char="●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1600200" algn="l" rtl="0">
              <a:spcBef>
                <a:spcPts val="0"/>
              </a:spcBef>
              <a:buChar char="○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1828800" algn="l" rtl="0">
              <a:spcBef>
                <a:spcPts val="0"/>
              </a:spcBef>
              <a:buChar char="■"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948983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/>
              <a:t>Speaker Notes</a:t>
            </a:r>
          </a:p>
          <a:p>
            <a:pPr lvl="0">
              <a:spcBef>
                <a:spcPts val="0"/>
              </a:spcBef>
              <a:buNone/>
            </a:pPr>
            <a:endParaRPr lang="en-US" dirty="0" smtClean="0"/>
          </a:p>
          <a:p>
            <a:pPr marL="228600" lvl="0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Discuss mechanics/process parts of Scrum framework</a:t>
            </a:r>
          </a:p>
          <a:p>
            <a:pPr marL="685800" lvl="1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Roles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Product owner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Scrum Master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DevTeam</a:t>
            </a:r>
          </a:p>
          <a:p>
            <a:pPr marL="685800" lvl="1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Artifacts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Product Backlog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Sprint Backlog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Potentially Shippable Increment</a:t>
            </a:r>
          </a:p>
          <a:p>
            <a:pPr marL="685800" lvl="1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Ceremonies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Sprint Planning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Daily Standup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Sprint Review</a:t>
            </a:r>
          </a:p>
          <a:p>
            <a:pPr marL="1143000" lvl="2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Retrospective</a:t>
            </a:r>
          </a:p>
          <a:p>
            <a:pPr marL="228600" lvl="0" indent="-228600">
              <a:spcBef>
                <a:spcPts val="0"/>
              </a:spcBef>
              <a:buAutoNum type="arabicPeriod"/>
            </a:pPr>
            <a:r>
              <a:rPr lang="en-US" baseline="0" dirty="0" smtClean="0"/>
              <a:t>Do not discuss mindset part of Scrum Framework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747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2_Custom Layou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230935" y="150264"/>
            <a:ext cx="8723050" cy="4529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Shape 12"/>
          <p:cNvGrpSpPr/>
          <p:nvPr/>
        </p:nvGrpSpPr>
        <p:grpSpPr>
          <a:xfrm>
            <a:off x="307257" y="547314"/>
            <a:ext cx="390183" cy="73151"/>
            <a:chOff x="2522084" y="4216400"/>
            <a:chExt cx="390183" cy="73151"/>
          </a:xfrm>
        </p:grpSpPr>
        <p:sp>
          <p:nvSpPr>
            <p:cNvPr id="13" name="Shape 13"/>
            <p:cNvSpPr/>
            <p:nvPr/>
          </p:nvSpPr>
          <p:spPr>
            <a:xfrm>
              <a:off x="2522084" y="4216400"/>
              <a:ext cx="73151" cy="73151"/>
            </a:xfrm>
            <a:prstGeom prst="ellipse">
              <a:avLst/>
            </a:prstGeom>
            <a:solidFill>
              <a:srgbClr val="F1592D"/>
            </a:solidFill>
            <a:ln>
              <a:noFill/>
            </a:ln>
          </p:spPr>
          <p:txBody>
            <a:bodyPr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Shape 14"/>
            <p:cNvSpPr/>
            <p:nvPr/>
          </p:nvSpPr>
          <p:spPr>
            <a:xfrm>
              <a:off x="2680600" y="4216400"/>
              <a:ext cx="73151" cy="73151"/>
            </a:xfrm>
            <a:prstGeom prst="ellipse">
              <a:avLst/>
            </a:prstGeom>
            <a:solidFill>
              <a:srgbClr val="F1592D"/>
            </a:solidFill>
            <a:ln>
              <a:noFill/>
            </a:ln>
          </p:spPr>
          <p:txBody>
            <a:bodyPr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Shape 15"/>
            <p:cNvSpPr/>
            <p:nvPr/>
          </p:nvSpPr>
          <p:spPr>
            <a:xfrm>
              <a:off x="2839116" y="4216400"/>
              <a:ext cx="73151" cy="73151"/>
            </a:xfrm>
            <a:prstGeom prst="ellipse">
              <a:avLst/>
            </a:prstGeom>
            <a:solidFill>
              <a:srgbClr val="F1592D"/>
            </a:solidFill>
            <a:ln>
              <a:noFill/>
            </a:ln>
          </p:spPr>
          <p:txBody>
            <a:bodyPr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40892" y="4755132"/>
            <a:ext cx="468287" cy="279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Custom Layou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hape 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3" y="0"/>
            <a:ext cx="914129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214575" y="2175914"/>
            <a:ext cx="2966774" cy="9937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pic" idx="2"/>
          </p:nvPr>
        </p:nvSpPr>
        <p:spPr>
          <a:xfrm rot="-187204">
            <a:off x="4154351" y="267223"/>
            <a:ext cx="5171102" cy="4537661"/>
          </a:xfrm>
          <a:prstGeom prst="roundRect">
            <a:avLst>
              <a:gd name="adj" fmla="val 5406"/>
            </a:avLst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83771" marR="0" lvl="1" indent="-123371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19200" marR="0" lvl="2" indent="-101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37360" marR="0" lvl="3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94560" marR="0" lvl="4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51760" marR="0" lvl="5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08960" marR="0" lvl="6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566159" marR="0" lvl="7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23359" marR="0" lvl="8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8440892" y="4755132"/>
            <a:ext cx="468287" cy="279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Custom Layou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hape 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Shape 139"/>
          <p:cNvSpPr>
            <a:spLocks noGrp="1"/>
          </p:cNvSpPr>
          <p:nvPr>
            <p:ph type="pic" idx="2"/>
          </p:nvPr>
        </p:nvSpPr>
        <p:spPr>
          <a:xfrm rot="-214042">
            <a:off x="-570962" y="-2143374"/>
            <a:ext cx="6204653" cy="6249816"/>
          </a:xfrm>
          <a:prstGeom prst="flowChartAlternateProcess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83771" marR="0" lvl="1" indent="-123371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19200" marR="0" lvl="2" indent="-101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37360" marR="0" lvl="3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94560" marR="0" lvl="4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51760" marR="0" lvl="5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08960" marR="0" lvl="6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566159" marR="0" lvl="7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23359" marR="0" lvl="8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5960139" y="1837775"/>
            <a:ext cx="2966774" cy="9937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sldNum" idx="12"/>
          </p:nvPr>
        </p:nvSpPr>
        <p:spPr>
          <a:xfrm>
            <a:off x="8440892" y="4755132"/>
            <a:ext cx="468287" cy="279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7_Custom Layou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Shape 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166950" y="2175914"/>
            <a:ext cx="3321316" cy="9937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70C3"/>
              </a:buClr>
              <a:buFont typeface="Arial"/>
              <a:buNone/>
              <a:defRPr sz="2400" b="0" i="0" u="none" strike="noStrike" cap="none">
                <a:solidFill>
                  <a:srgbClr val="2670C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Shape 147"/>
          <p:cNvSpPr txBox="1">
            <a:spLocks noGrp="1"/>
          </p:cNvSpPr>
          <p:nvPr>
            <p:ph type="sldNum" idx="12"/>
          </p:nvPr>
        </p:nvSpPr>
        <p:spPr>
          <a:xfrm>
            <a:off x="8440892" y="4755132"/>
            <a:ext cx="468287" cy="279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83771" marR="0" lvl="1" indent="-123371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19200" marR="0" lvl="2" indent="-101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37360" marR="0" lvl="3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94560" marR="0" lvl="4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51760" marR="0" lvl="5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08960" marR="0" lvl="6" indent="-16256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566159" marR="0" lvl="7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23359" marR="0" lvl="8" indent="-162559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3" y="0"/>
            <a:ext cx="9141290" cy="5143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4" r:id="rId2"/>
    <p:sldLayoutId id="2147483665" r:id="rId3"/>
    <p:sldLayoutId id="2147483666" r:id="rId4"/>
    <p:sldLayoutId id="214748366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>
            <a:spLocks noGrp="1"/>
          </p:cNvSpPr>
          <p:nvPr>
            <p:ph type="title"/>
          </p:nvPr>
        </p:nvSpPr>
        <p:spPr>
          <a:xfrm>
            <a:off x="230935" y="150264"/>
            <a:ext cx="8723050" cy="4529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25000"/>
              <a:buFont typeface="Arial"/>
              <a:buNone/>
            </a:pPr>
            <a:r>
              <a:rPr lang="en-US" sz="2000" b="0" i="0" u="none" strike="noStrike" cap="none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Scrum Mechanics</a:t>
            </a:r>
            <a:endParaRPr lang="en-US" sz="20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Shape 379"/>
          <p:cNvSpPr txBox="1">
            <a:spLocks noGrp="1"/>
          </p:cNvSpPr>
          <p:nvPr>
            <p:ph type="sldNum" idx="12"/>
          </p:nvPr>
        </p:nvSpPr>
        <p:spPr>
          <a:xfrm>
            <a:off x="8440892" y="4755132"/>
            <a:ext cx="468287" cy="279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375" y="4766464"/>
            <a:ext cx="75520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Adapted from: http://csharpcorner.mindcrackerinc.netdna-cdn.com/UploadFile/BlogImages/11292015063901AM/SystemsPlus-Scrum-Image-.jpg</a:t>
            </a:r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27" y="731328"/>
            <a:ext cx="7667625" cy="389572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449" y="3824289"/>
            <a:ext cx="1289456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eft-Right Arrow 1"/>
          <p:cNvSpPr/>
          <p:nvPr/>
        </p:nvSpPr>
        <p:spPr>
          <a:xfrm rot="407399">
            <a:off x="2169478" y="4087655"/>
            <a:ext cx="2918460" cy="259080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093019" y="4604349"/>
            <a:ext cx="1440612" cy="181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>
                <a:solidFill>
                  <a:schemeClr val="tx1"/>
                </a:solidFill>
              </a:rPr>
              <a:t>For Future Sprints</a:t>
            </a:r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139701"/>
      </p:ext>
    </p:extLst>
  </p:cSld>
  <p:clrMapOvr>
    <a:masterClrMapping/>
  </p:clrMapOvr>
</p:sld>
</file>

<file path=ppt/theme/theme1.xml><?xml version="1.0" encoding="utf-8"?>
<a:theme xmlns:a="http://schemas.openxmlformats.org/drawingml/2006/main" name="Infosys Template 1">
  <a:themeElements>
    <a:clrScheme name="Infosys Template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fosys Template 1">
  <a:themeElements>
    <a:clrScheme name="Infosys Template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52</Words>
  <Application>Microsoft Office PowerPoint</Application>
  <PresentationFormat>On-screen Show (16:9)</PresentationFormat>
  <Paragraphs>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Infosys Template 1</vt:lpstr>
      <vt:lpstr>Scrum Mechanics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this template</dc:title>
  <dc:creator>James Fischer</dc:creator>
  <cp:lastModifiedBy>AgileAnswer</cp:lastModifiedBy>
  <cp:revision>78</cp:revision>
  <dcterms:modified xsi:type="dcterms:W3CDTF">2020-06-04T04:23:18Z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8a196-24eb-41bb-9b22-e6a1875a70f5_Enabled">
    <vt:lpwstr>True</vt:lpwstr>
  </property>
  <property fmtid="{D5CDD505-2E9C-101B-9397-08002B2CF9AE}" pid="3" name="MSIP_Label_7fd8a196-24eb-41bb-9b22-e6a1875a70f5_SiteId">
    <vt:lpwstr>63ce7d59-2f3e-42cd-a8cc-be764cff5eb6</vt:lpwstr>
  </property>
  <property fmtid="{D5CDD505-2E9C-101B-9397-08002B2CF9AE}" pid="4" name="MSIP_Label_7fd8a196-24eb-41bb-9b22-e6a1875a70f5_Owner">
    <vt:lpwstr>tushar.jain05@ad.infosys.com</vt:lpwstr>
  </property>
  <property fmtid="{D5CDD505-2E9C-101B-9397-08002B2CF9AE}" pid="5" name="MSIP_Label_7fd8a196-24eb-41bb-9b22-e6a1875a70f5_SetDate">
    <vt:lpwstr>2019-03-07T02:41:28.6123913Z</vt:lpwstr>
  </property>
  <property fmtid="{D5CDD505-2E9C-101B-9397-08002B2CF9AE}" pid="6" name="MSIP_Label_7fd8a196-24eb-41bb-9b22-e6a1875a70f5_Name">
    <vt:lpwstr>Public</vt:lpwstr>
  </property>
  <property fmtid="{D5CDD505-2E9C-101B-9397-08002B2CF9AE}" pid="7" name="MSIP_Label_7fd8a196-24eb-41bb-9b22-e6a1875a70f5_Application">
    <vt:lpwstr>Microsoft Azure Information Protection</vt:lpwstr>
  </property>
  <property fmtid="{D5CDD505-2E9C-101B-9397-08002B2CF9AE}" pid="8" name="MSIP_Label_7fd8a196-24eb-41bb-9b22-e6a1875a70f5_Extended_MSFT_Method">
    <vt:lpwstr>Manual</vt:lpwstr>
  </property>
  <property fmtid="{D5CDD505-2E9C-101B-9397-08002B2CF9AE}" pid="9" name="Sensitivity">
    <vt:lpwstr>Public</vt:lpwstr>
  </property>
</Properties>
</file>